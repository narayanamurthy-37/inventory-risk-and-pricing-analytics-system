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9E-489D-868C-36E0567A515F}"/>
              </c:ext>
            </c:extLst>
          </c:dPt>
          <c:dPt>
            <c:idx val="1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9E-489D-868C-36E0567A515F}"/>
              </c:ext>
            </c:extLst>
          </c:dPt>
          <c:dPt>
            <c:idx val="2"/>
            <c:bubble3D val="0"/>
            <c:spPr>
              <a:solidFill>
                <a:srgbClr val="E85D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9E-489D-868C-36E0567A515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9E-489D-868C-36E0567A515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9E-489D-868C-36E0567A515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89E-489D-868C-36E0567A515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Class A (19)</c:v>
                </c:pt>
                <c:pt idx="1">
                  <c:v>Class B (21)</c:v>
                </c:pt>
                <c:pt idx="2">
                  <c:v>Class C (31)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9E-489D-868C-36E0567A5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c:sp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3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B3A55">
              <a:alpha val="70000"/>
            </a:srgbClr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B3A55">
              <a:alpha val="70000"/>
            </a:srgbClr>
          </a:solidFill>
          <a:ln w="12700">
            <a:solidFill>
              <a:srgbClr val="1B3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SUPERMARKET INVENTORY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Inventory Simulation &amp; Optimization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| Indian Retail Patterns | Jan–Jun 2026 Simulation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8288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337560"/>
            <a:ext cx="18288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337560"/>
            <a:ext cx="18288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3337560"/>
            <a:ext cx="18288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Simulation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303520" cy="39319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C5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Indian supermarket operations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festivals, weekends &amp; salary-cycle patterns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products across multiple categories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inventory analysis &amp; forecasting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1508760" cy="1371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024128"/>
            <a:ext cx="1508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06440" y="1709928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914400"/>
            <a:ext cx="1508760" cy="1371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1024128"/>
            <a:ext cx="1508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74K+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498080" y="1709928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2514600"/>
            <a:ext cx="1508760" cy="1371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624328"/>
            <a:ext cx="1508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806440" y="3310128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514600"/>
            <a:ext cx="1508760" cy="1371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2624328"/>
            <a:ext cx="1508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Trebuchet MS" pitchFamily="34" charset="0"/>
              </a:rPr>
              <a:t>10</a:t>
            </a:r>
          </a:p>
        </p:txBody>
      </p:sp>
      <p:sp>
        <p:nvSpPr>
          <p:cNvPr id="19" name="Text 17"/>
          <p:cNvSpPr/>
          <p:nvPr/>
        </p:nvSpPr>
        <p:spPr>
          <a:xfrm>
            <a:off x="7498080" y="3310128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Data Warehouse Architecture — Three-Layer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34747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560320" cy="640080"/>
          </a:xfrm>
          <a:prstGeom prst="rect">
            <a:avLst/>
          </a:prstGeom>
          <a:solidFill>
            <a:srgbClr val="C0692A"/>
          </a:solidFill>
          <a:ln w="12700">
            <a:solidFill>
              <a:srgbClr val="C06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exactly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received — no changes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822960"/>
            <a:ext cx="2560320" cy="34747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822960"/>
            <a:ext cx="2560320" cy="640080"/>
          </a:xfrm>
          <a:prstGeom prst="rect">
            <a:avLst/>
          </a:prstGeom>
          <a:solidFill>
            <a:srgbClr val="5577AA"/>
          </a:solidFill>
          <a:ln w="12700">
            <a:solidFill>
              <a:srgbClr val="557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22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standardized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&amp; quality checks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560320" cy="34747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56032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822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0574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tables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reporting &amp;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2468880"/>
            <a:ext cx="320040" cy="1645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0448" y="2468880"/>
            <a:ext cx="320040" cy="1645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Separate raw, cleaned, and analytical data into a reliable warehouse.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Gold Layer — Data Warehouse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22860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 TABLES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 — category, price, supplier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dim_supplier — info &amp; lead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— calendar + festivals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 — time-of-day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46120"/>
            <a:ext cx="3931920" cy="16002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246120"/>
            <a:ext cx="3931920" cy="38404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 TABLE — fact_inventory_daily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 •  Stock Levels  •  Revenue  •  Inventory Movement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4206240" cy="4023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v_abc_product — product classification</a:t>
            </a:r>
            <a:endParaRPr lang="en-US" sz="125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v_monthly_turnover — turnover analysis</a:t>
            </a:r>
            <a:endParaRPr lang="en-US" sz="125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v_discount_leakage — promotion effectiveness</a:t>
            </a:r>
            <a:endParaRPr lang="en-US" sz="125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v_supplier_performance — reliability evaluation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ABC Classification — Concept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1430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0" cy="1143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241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~70%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143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items — tight inventory control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097280"/>
            <a:ext cx="18288" cy="7772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40280"/>
            <a:ext cx="8503920" cy="11430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640080" cy="1143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4028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~20%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importance — regular monitoring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423160"/>
            <a:ext cx="18288" cy="7772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66160"/>
            <a:ext cx="8503920" cy="11430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66160"/>
            <a:ext cx="640080" cy="1143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661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~10%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794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— minimal oversight needed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66160" y="3749040"/>
            <a:ext cx="18288" cy="7772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Focus on high-impact products — not all items deserve equal attention.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ABC Classification — Results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906519555"/>
              </p:ext>
            </p:extLst>
          </p:nvPr>
        </p:nvGraphicFramePr>
        <p:xfrm>
          <a:off x="274320" y="77724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777240"/>
            <a:ext cx="4297680" cy="4114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C5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Class A Products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28529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2,32,62,470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Powder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1,54,75,440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 Slices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81,04,860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73,54,980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Kaju Katli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67,38,120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66344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products generate 70% of revenue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|  Inventory Turnover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841248"/>
          </a:xfrm>
          <a:prstGeom prst="rect">
            <a:avLst/>
          </a:prstGeom>
          <a:solidFill>
            <a:srgbClr val="162B3B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C5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Turnover = Total Units Sold ÷ Average Inventory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30175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114800" cy="438912"/>
          </a:xfrm>
          <a:prstGeom prst="rect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Fast Moving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–  12.83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Powder – 12.05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Slices – 11.51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– 9.90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restocking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114800" cy="30175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4709160" y="1828800"/>
            <a:ext cx="4114800" cy="4389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28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🐢  Slow Moving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Cumin Seeds – 0.58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Garam Masala – 0.52</a:t>
            </a:r>
            <a:endParaRPr lang="en-US" sz="135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 err="1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</a:t>
            </a: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Powder – 0.50</a:t>
            </a:r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Turmeric Powder – 0.29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632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reorder intervals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Fruits/Veg: Highest turnover  |  Spices &amp; Household: Lowest turnover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|  Supplier Performance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237744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Most Reliable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114800" cy="1682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India APMC Traders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Grain Wholesalers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Milk 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663440" y="822960"/>
            <a:ext cx="4206240" cy="237744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822960"/>
            <a:ext cx="420624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  High Profit Contribution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61872"/>
          <a:ext cx="4206240" cy="16824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Dairy Products Ltd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₹5.56M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Milk 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₹3.65M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 Beverages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3383280"/>
            <a:ext cx="8595360" cy="1554480"/>
          </a:xfrm>
          <a:prstGeom prst="rect">
            <a:avLst/>
          </a:prstGeom>
          <a:solidFill>
            <a:srgbClr val="1E1530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Risk Suppliers — Low Reliability / Long Lead Time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03904"/>
          <a:ext cx="8595360" cy="12801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Masala Wholesalers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 Mandi Fresh Produce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Spice Traders Pvt Ltd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|  Discount &amp; Promotion Effectiveness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Effective Promotions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411480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Cleaner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Detergent Powder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Detergent Liquid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Sweets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160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discount → Strong demand boost</a:t>
            </a:r>
            <a:endParaRPr lang="en-US" sz="1100" dirty="0"/>
          </a:p>
        </p:txBody>
      </p:sp>
      <p:sp>
        <p:nvSpPr>
          <p:cNvPr id="8" name="Shape 7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Discount Leakage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98448"/>
          <a:ext cx="4206240" cy="2377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Namkeen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Freshener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Shampoo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Marie Biscuits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66344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discount → No meaningful uplift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discounts do NOT always drive demand — identify leakage to improve margins.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|  Demand Forecasting Model — January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804672"/>
          </a:xfrm>
          <a:prstGeom prst="rect">
            <a:avLst/>
          </a:prstGeom>
          <a:solidFill>
            <a:srgbClr val="162B3B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Forecast  =  Base Demand  ×  Seasonality Index  ×  Festival Effect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256032" cy="12984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Recent Sales Trend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demand from last 30 days of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256032" cy="129844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Seasonality 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vs. annual average demand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256032" cy="129844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01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Festival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 on festival calendar days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206240" cy="129844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256032" cy="1298448"/>
          </a:xfrm>
          <a:prstGeom prst="rect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401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Weekend Pattern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demand adjustment on weekends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|  January 2026 — Forecast Sample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7680960" cy="3291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Fcst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Jan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6,255 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 &amp; Veg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5,405 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Detergent Powder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B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Powder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4B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Coriander Powder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274320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&amp; Apple have near-zero stock — large orders required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54680" y="4572000"/>
            <a:ext cx="274320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 Powder partially covered by current stock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743200" cy="384048"/>
          </a:xfrm>
          <a:prstGeom prst="rect">
            <a:avLst/>
          </a:prstGeom>
          <a:solidFill>
            <a:srgbClr val="1B2E4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Coriander Powder: low demand, small order sufficient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|  Inventory Simulation — Jan to Jun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65960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960120"/>
            <a:ext cx="658368" cy="6583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Demand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67712" y="2075688"/>
            <a:ext cx="201168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868680"/>
            <a:ext cx="1965960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60120"/>
            <a:ext cx="658368" cy="6583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960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1719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 Demand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23113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actual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62272" y="2075688"/>
            <a:ext cx="201168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68680"/>
            <a:ext cx="1965960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960120"/>
            <a:ext cx="658368" cy="658368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960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1719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Stock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3113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sales from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56832" y="2075688"/>
            <a:ext cx="201168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868680"/>
            <a:ext cx="1965960" cy="2560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960120"/>
            <a:ext cx="658368" cy="658368"/>
          </a:xfrm>
          <a:prstGeom prst="ellipse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960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1719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Reorder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231136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based on lead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reorder point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630168"/>
            <a:ext cx="8595360" cy="1243584"/>
          </a:xfrm>
          <a:prstGeom prst="rect">
            <a:avLst/>
          </a:prstGeom>
          <a:solidFill>
            <a:srgbClr val="162B3B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C5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Evaluates: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(Stock Availability)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Events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Days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 |  Simulation Results — Key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3268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64500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2024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3268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64500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192024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93268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2,183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00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822960"/>
            <a:ext cx="192024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932688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4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1,198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164500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1148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4114800" cy="384048"/>
          </a:xfrm>
          <a:prstGeom prst="rect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Service Level Products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62072"/>
          <a:ext cx="411480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4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Powder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423160"/>
            <a:ext cx="420624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2423160"/>
            <a:ext cx="4206240" cy="38404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24231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Service Level Products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862072"/>
          <a:ext cx="420624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5D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Turmeric Powder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 Powder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Chilli Powder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forecasting alone is not enough — supplier lead times &amp; reorder policy drive availability.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CONCLUSION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138988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24712"/>
            <a:ext cx="658368" cy="65836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24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94183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ABC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39903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products drive 70% of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138988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124712"/>
            <a:ext cx="658368" cy="6583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24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96712" y="94183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Turnover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96712" y="139903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Produce need frequent restocking; Spices do not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60520" cy="138988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697480"/>
            <a:ext cx="658368" cy="658368"/>
          </a:xfrm>
          <a:prstGeom prst="ellipse">
            <a:avLst/>
          </a:prstGeom>
          <a:solidFill>
            <a:srgbClr val="2EC4A5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974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1872" y="25146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High-reliability suppliers reduce stockout risk significantly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60520" cy="1389888"/>
          </a:xfrm>
          <a:prstGeom prst="rect">
            <a:avLst/>
          </a:prstGeom>
          <a:solidFill>
            <a:srgbClr val="1B2E45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2697480"/>
            <a:ext cx="658368" cy="658368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6974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96712" y="25146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96712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discounts don't always lift demand — review leakage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8595360" cy="594360"/>
          </a:xfrm>
          <a:prstGeom prst="rect">
            <a:avLst/>
          </a:prstGeom>
          <a:solidFill>
            <a:srgbClr val="162B3B"/>
          </a:solidFill>
          <a:ln w="12700">
            <a:solidFill>
              <a:srgbClr val="1C35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904488"/>
            <a:ext cx="8412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98.9% forecast accuracy  •  83% service level  •  Combined analysis = optimized inventory management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Inventory Optimization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922</Words>
  <Application>Microsoft Office PowerPoint</Application>
  <PresentationFormat>On-screen Show (16:9)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Inventory Analysis</dc:title>
  <dc:subject>PptxGenJS Presentation</dc:subject>
  <dc:creator>PptxGenJS</dc:creator>
  <cp:lastModifiedBy>PAVITHRA</cp:lastModifiedBy>
  <cp:revision>6</cp:revision>
  <dcterms:created xsi:type="dcterms:W3CDTF">2026-03-06T03:25:29Z</dcterms:created>
  <dcterms:modified xsi:type="dcterms:W3CDTF">2026-03-06T12:45:31Z</dcterms:modified>
</cp:coreProperties>
</file>